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Quattrocento" panose="02020502030000000404" pitchFamily="18" charset="0"/>
      <p:regular r:id="rId16"/>
    </p:embeddedFont>
    <p:embeddedFont>
      <p:font typeface="Quattrocent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4476154" y="1845963"/>
            <a:ext cx="9335691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Algorithm Implementations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89188" y="4920779"/>
            <a:ext cx="1230962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 comprehensive study of five quantum computing projects demonstrating exponential speedup, information-theoretic security, and practical viablity.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60840" y="621065"/>
            <a:ext cx="8033594" cy="90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Team &amp; Project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5" y="2420839"/>
            <a:ext cx="5198417" cy="3791099"/>
            <a:chOff x="0" y="0"/>
            <a:chExt cx="6931223" cy="50547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31152" cy="5054727"/>
            </a:xfrm>
            <a:custGeom>
              <a:avLst/>
              <a:gdLst/>
              <a:ahLst/>
              <a:cxnLst/>
              <a:rect l="l" t="t" r="r" b="b"/>
              <a:pathLst>
                <a:path w="6931152" h="5054727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4994910"/>
                  </a:lnTo>
                  <a:cubicBezTo>
                    <a:pt x="6931152" y="5027930"/>
                    <a:pt x="6904355" y="5054727"/>
                    <a:pt x="6871335" y="5054727"/>
                  </a:cubicBezTo>
                  <a:lnTo>
                    <a:pt x="59817" y="5054727"/>
                  </a:lnTo>
                  <a:cubicBezTo>
                    <a:pt x="26797" y="5054727"/>
                    <a:pt x="0" y="5027930"/>
                    <a:pt x="0" y="4994910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46299" y="2700932"/>
            <a:ext cx="3959573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Deutsch-Jozsa Algorithm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6299" y="3244155"/>
            <a:ext cx="4600129" cy="201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Exponential speedup: 2^(n-1)× faster than classical. Deployed on IBM quantum hardware with 99.7% accuracy.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6299" y="5338762"/>
            <a:ext cx="4600129" cy="57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Prashant Vinod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44716" y="2420839"/>
            <a:ext cx="5198417" cy="3791099"/>
            <a:chOff x="0" y="0"/>
            <a:chExt cx="6931223" cy="50547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31152" cy="5054727"/>
            </a:xfrm>
            <a:custGeom>
              <a:avLst/>
              <a:gdLst/>
              <a:ahLst/>
              <a:cxnLst/>
              <a:rect l="l" t="t" r="r" b="b"/>
              <a:pathLst>
                <a:path w="6931152" h="5054727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4994910"/>
                  </a:lnTo>
                  <a:cubicBezTo>
                    <a:pt x="6931152" y="5027930"/>
                    <a:pt x="6904355" y="5054727"/>
                    <a:pt x="6871335" y="5054727"/>
                  </a:cubicBezTo>
                  <a:lnTo>
                    <a:pt x="59817" y="5054727"/>
                  </a:lnTo>
                  <a:cubicBezTo>
                    <a:pt x="26797" y="5054727"/>
                    <a:pt x="0" y="5027930"/>
                    <a:pt x="0" y="4994910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843861" y="2700932"/>
            <a:ext cx="3520231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Grover's 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3861" y="3244155"/>
            <a:ext cx="4600129" cy="201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Quadratic speedup: √N× improvement. Empirical constant k=0.784 matches theory within 0.16%.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3861" y="5338762"/>
            <a:ext cx="4600129" cy="57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Divyansh Atri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42279" y="2420839"/>
            <a:ext cx="5198566" cy="3791099"/>
            <a:chOff x="0" y="0"/>
            <a:chExt cx="6931422" cy="50547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31406" cy="5054727"/>
            </a:xfrm>
            <a:custGeom>
              <a:avLst/>
              <a:gdLst/>
              <a:ahLst/>
              <a:cxnLst/>
              <a:rect l="l" t="t" r="r" b="b"/>
              <a:pathLst>
                <a:path w="6931406" h="5054727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589" y="0"/>
                  </a:lnTo>
                  <a:cubicBezTo>
                    <a:pt x="6904609" y="0"/>
                    <a:pt x="6931406" y="26797"/>
                    <a:pt x="6931406" y="59817"/>
                  </a:cubicBezTo>
                  <a:lnTo>
                    <a:pt x="6931406" y="4994910"/>
                  </a:lnTo>
                  <a:cubicBezTo>
                    <a:pt x="6931406" y="5027930"/>
                    <a:pt x="6904609" y="5054727"/>
                    <a:pt x="6871589" y="5054727"/>
                  </a:cubicBezTo>
                  <a:lnTo>
                    <a:pt x="59817" y="5054727"/>
                  </a:lnTo>
                  <a:cubicBezTo>
                    <a:pt x="26797" y="5054727"/>
                    <a:pt x="0" y="5027930"/>
                    <a:pt x="0" y="4994910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341424" y="2700932"/>
            <a:ext cx="3520231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BB84 QKD Protocol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41424" y="3244155"/>
            <a:ext cx="4600277" cy="201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Information-theoretic security. Perfect eavesdropper detection via quantum bit error rate monitoring.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1424" y="5338762"/>
            <a:ext cx="4600277" cy="57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Harshil Soni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47155" y="6511081"/>
            <a:ext cx="7947272" cy="2833539"/>
            <a:chOff x="0" y="0"/>
            <a:chExt cx="10596363" cy="37780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96373" cy="3777996"/>
            </a:xfrm>
            <a:custGeom>
              <a:avLst/>
              <a:gdLst/>
              <a:ahLst/>
              <a:cxnLst/>
              <a:rect l="l" t="t" r="r" b="b"/>
              <a:pathLst>
                <a:path w="10596373" h="377799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3718179"/>
                  </a:lnTo>
                  <a:cubicBezTo>
                    <a:pt x="10596373" y="3751199"/>
                    <a:pt x="10569575" y="3777996"/>
                    <a:pt x="10536555" y="3777996"/>
                  </a:cubicBezTo>
                  <a:lnTo>
                    <a:pt x="59817" y="3777996"/>
                  </a:lnTo>
                  <a:cubicBezTo>
                    <a:pt x="26797" y="3777996"/>
                    <a:pt x="0" y="3751199"/>
                    <a:pt x="0" y="3718179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46299" y="6791176"/>
            <a:ext cx="4368701" cy="426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Walk Algorithms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6299" y="7334399"/>
            <a:ext cx="7348984" cy="105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Ballistic spread: 3× faster mixing, 5× higher hitting probability than classical random walks.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6299" y="8471446"/>
            <a:ext cx="7348984" cy="57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Bhavya Parihar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293572" y="6511081"/>
            <a:ext cx="7947272" cy="2833539"/>
            <a:chOff x="0" y="0"/>
            <a:chExt cx="10596363" cy="37780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96373" cy="3777996"/>
            </a:xfrm>
            <a:custGeom>
              <a:avLst/>
              <a:gdLst/>
              <a:ahLst/>
              <a:cxnLst/>
              <a:rect l="l" t="t" r="r" b="b"/>
              <a:pathLst>
                <a:path w="10596373" h="377799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3718179"/>
                  </a:lnTo>
                  <a:cubicBezTo>
                    <a:pt x="10596373" y="3751199"/>
                    <a:pt x="10569575" y="3777996"/>
                    <a:pt x="10536555" y="3777996"/>
                  </a:cubicBezTo>
                  <a:lnTo>
                    <a:pt x="59817" y="3777996"/>
                  </a:lnTo>
                  <a:cubicBezTo>
                    <a:pt x="26797" y="3777996"/>
                    <a:pt x="0" y="3751199"/>
                    <a:pt x="0" y="3718179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9592716" y="6791176"/>
            <a:ext cx="3520231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RNG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92716" y="7334399"/>
            <a:ext cx="7348984" cy="105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True randomness with 99.9% availability. Fault-tolerant hybrid architecture with automatic failover.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92716" y="8471446"/>
            <a:ext cx="7348984" cy="57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Mehrish Khan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9335691" cy="160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Deutsch-Jozsa: Problem and 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3225" y="3382710"/>
            <a:ext cx="12802258" cy="525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981" lvl="1" indent="-331490" algn="l">
              <a:lnSpc>
                <a:spcPts val="4851"/>
              </a:lnSpc>
              <a:buFont typeface="Arial"/>
              <a:buChar char="•"/>
            </a:pPr>
            <a:r>
              <a:rPr lang="en-US" sz="3070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Some functions are hard to classify: is the output always same or evenly divided?</a:t>
            </a:r>
          </a:p>
          <a:p>
            <a:pPr marL="662981" lvl="1" indent="-331490" algn="l">
              <a:lnSpc>
                <a:spcPts val="4851"/>
              </a:lnSpc>
              <a:buFont typeface="Arial"/>
              <a:buChar char="•"/>
            </a:pPr>
            <a:r>
              <a:rPr lang="en-US" sz="3070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method must check many inputs → cost grows exponentially as n increases.</a:t>
            </a:r>
          </a:p>
          <a:p>
            <a:pPr marL="662981" lvl="1" indent="-331490" algn="l">
              <a:lnSpc>
                <a:spcPts val="4851"/>
              </a:lnSpc>
              <a:buFont typeface="Arial"/>
              <a:buChar char="•"/>
            </a:pPr>
            <a:r>
              <a:rPr lang="en-US" sz="3070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Used to demonstrate the gap between deterministic classical vs quantum query models.</a:t>
            </a:r>
          </a:p>
          <a:p>
            <a:pPr marL="662981" lvl="1" indent="-331490" algn="l">
              <a:lnSpc>
                <a:spcPts val="4851"/>
              </a:lnSpc>
              <a:buFont typeface="Arial"/>
              <a:buChar char="•"/>
            </a:pPr>
            <a:r>
              <a:rPr lang="en-US" sz="3070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Shows how classical approaches can be fundamentally limited even for simple questions.</a:t>
            </a:r>
          </a:p>
          <a:p>
            <a:pPr algn="l">
              <a:lnSpc>
                <a:spcPts val="1535"/>
              </a:lnSpc>
            </a:pPr>
            <a:endParaRPr lang="en-US" sz="3070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9335691" cy="801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Deutsch-Jozsa: Why it’s better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2562401"/>
            <a:ext cx="10250927" cy="595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solution determines answer using ONE single query, no matter how big the input.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Demonstrates first-ever exponential speedup in quantum computing.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Works extremely well even on real quantum hardware (99.7% accuracy).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Proves that quantum computers are not just theoretical — they can solve real problems much faster</a:t>
            </a: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9335691" cy="160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Grover’s Algorithm: Problem and 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3047696"/>
            <a:ext cx="10250927" cy="53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Searching for an item in unsorted data takes linear time classically.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As data size grows (millions/billions), classical search becomes slow and costly.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Brute-force search in cryptography (like guessing keys) becomes impossible.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Optimization and decision problems often reduce to “search until you find something” → slow.</a:t>
            </a: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09600" y="562814"/>
            <a:ext cx="9032974" cy="141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70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Grover's Search: Quadratic Speedup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16385" y="2505968"/>
            <a:ext cx="28575" cy="3838872"/>
            <a:chOff x="0" y="0"/>
            <a:chExt cx="38100" cy="51184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5118481"/>
            </a:xfrm>
            <a:custGeom>
              <a:avLst/>
              <a:gdLst/>
              <a:ahLst/>
              <a:cxnLst/>
              <a:rect l="l" t="t" r="r" b="b"/>
              <a:pathLst>
                <a:path w="38100" h="51184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099431"/>
                  </a:lnTo>
                  <a:cubicBezTo>
                    <a:pt x="38100" y="5109972"/>
                    <a:pt x="29591" y="5118481"/>
                    <a:pt x="19050" y="5118481"/>
                  </a:cubicBezTo>
                  <a:cubicBezTo>
                    <a:pt x="8509" y="5118481"/>
                    <a:pt x="0" y="5109972"/>
                    <a:pt x="0" y="5099431"/>
                  </a:cubicBezTo>
                  <a:close/>
                </a:path>
              </a:pathLst>
            </a:custGeom>
            <a:solidFill>
              <a:srgbClr val="4A6B6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557040" y="2760910"/>
            <a:ext cx="718096" cy="28575"/>
            <a:chOff x="0" y="0"/>
            <a:chExt cx="957462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7453" cy="38100"/>
            </a:xfrm>
            <a:custGeom>
              <a:avLst/>
              <a:gdLst/>
              <a:ahLst/>
              <a:cxnLst/>
              <a:rect l="l" t="t" r="r" b="b"/>
              <a:pathLst>
                <a:path w="957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8403" y="0"/>
                  </a:lnTo>
                  <a:cubicBezTo>
                    <a:pt x="948944" y="0"/>
                    <a:pt x="957453" y="8509"/>
                    <a:pt x="957453" y="19050"/>
                  </a:cubicBezTo>
                  <a:cubicBezTo>
                    <a:pt x="957453" y="29591"/>
                    <a:pt x="948944" y="38100"/>
                    <a:pt x="938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A6B6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47155" y="2505968"/>
            <a:ext cx="538460" cy="538460"/>
            <a:chOff x="0" y="0"/>
            <a:chExt cx="717947" cy="7179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7931" cy="717931"/>
            </a:xfrm>
            <a:custGeom>
              <a:avLst/>
              <a:gdLst/>
              <a:ahLst/>
              <a:cxnLst/>
              <a:rect l="l" t="t" r="r" b="b"/>
              <a:pathLst>
                <a:path w="717931" h="717931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052" y="0"/>
                  </a:lnTo>
                  <a:cubicBezTo>
                    <a:pt x="696468" y="0"/>
                    <a:pt x="717931" y="21463"/>
                    <a:pt x="717931" y="47879"/>
                  </a:cubicBezTo>
                  <a:lnTo>
                    <a:pt x="717931" y="670052"/>
                  </a:lnTo>
                  <a:cubicBezTo>
                    <a:pt x="717931" y="696468"/>
                    <a:pt x="696468" y="717931"/>
                    <a:pt x="670052" y="717931"/>
                  </a:cubicBezTo>
                  <a:lnTo>
                    <a:pt x="47879" y="717931"/>
                  </a:lnTo>
                  <a:cubicBezTo>
                    <a:pt x="21463" y="717931"/>
                    <a:pt x="0" y="696468"/>
                    <a:pt x="0" y="67005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147465" y="2602111"/>
            <a:ext cx="337840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13260" y="2569071"/>
            <a:ext cx="2816126" cy="37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3260" y="2988469"/>
            <a:ext cx="786958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O(N) queries required. For 1024 items: 513 queries average case.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57040" y="4200079"/>
            <a:ext cx="718096" cy="28575"/>
            <a:chOff x="0" y="0"/>
            <a:chExt cx="957462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7453" cy="38100"/>
            </a:xfrm>
            <a:custGeom>
              <a:avLst/>
              <a:gdLst/>
              <a:ahLst/>
              <a:cxnLst/>
              <a:rect l="l" t="t" r="r" b="b"/>
              <a:pathLst>
                <a:path w="957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8403" y="0"/>
                  </a:lnTo>
                  <a:cubicBezTo>
                    <a:pt x="948944" y="0"/>
                    <a:pt x="957453" y="8509"/>
                    <a:pt x="957453" y="19050"/>
                  </a:cubicBezTo>
                  <a:cubicBezTo>
                    <a:pt x="957453" y="29591"/>
                    <a:pt x="948944" y="38100"/>
                    <a:pt x="938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A6B6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155" y="3945136"/>
            <a:ext cx="538460" cy="538460"/>
            <a:chOff x="0" y="0"/>
            <a:chExt cx="717947" cy="7179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7931" cy="717931"/>
            </a:xfrm>
            <a:custGeom>
              <a:avLst/>
              <a:gdLst/>
              <a:ahLst/>
              <a:cxnLst/>
              <a:rect l="l" t="t" r="r" b="b"/>
              <a:pathLst>
                <a:path w="717931" h="717931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052" y="0"/>
                  </a:lnTo>
                  <a:cubicBezTo>
                    <a:pt x="696468" y="0"/>
                    <a:pt x="717931" y="21463"/>
                    <a:pt x="717931" y="47879"/>
                  </a:cubicBezTo>
                  <a:lnTo>
                    <a:pt x="717931" y="670052"/>
                  </a:lnTo>
                  <a:cubicBezTo>
                    <a:pt x="717931" y="696468"/>
                    <a:pt x="696468" y="717931"/>
                    <a:pt x="670052" y="717931"/>
                  </a:cubicBezTo>
                  <a:lnTo>
                    <a:pt x="47879" y="717931"/>
                  </a:lnTo>
                  <a:cubicBezTo>
                    <a:pt x="21463" y="717931"/>
                    <a:pt x="0" y="696468"/>
                    <a:pt x="0" y="67005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47465" y="4041279"/>
            <a:ext cx="337840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13260" y="4008239"/>
            <a:ext cx="2816126" cy="37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Grover's Algorithm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13260" y="4427636"/>
            <a:ext cx="786958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O(√N) queries. For 1024 items: only 25 iterations needed.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57040" y="5639246"/>
            <a:ext cx="718096" cy="28575"/>
            <a:chOff x="0" y="0"/>
            <a:chExt cx="957462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7453" cy="38100"/>
            </a:xfrm>
            <a:custGeom>
              <a:avLst/>
              <a:gdLst/>
              <a:ahLst/>
              <a:cxnLst/>
              <a:rect l="l" t="t" r="r" b="b"/>
              <a:pathLst>
                <a:path w="957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8403" y="0"/>
                  </a:lnTo>
                  <a:cubicBezTo>
                    <a:pt x="948944" y="0"/>
                    <a:pt x="957453" y="8509"/>
                    <a:pt x="957453" y="19050"/>
                  </a:cubicBezTo>
                  <a:cubicBezTo>
                    <a:pt x="957453" y="29591"/>
                    <a:pt x="948944" y="38100"/>
                    <a:pt x="938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A6B6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47155" y="5384304"/>
            <a:ext cx="538460" cy="538460"/>
            <a:chOff x="0" y="0"/>
            <a:chExt cx="717947" cy="7179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7931" cy="717931"/>
            </a:xfrm>
            <a:custGeom>
              <a:avLst/>
              <a:gdLst/>
              <a:ahLst/>
              <a:cxnLst/>
              <a:rect l="l" t="t" r="r" b="b"/>
              <a:pathLst>
                <a:path w="717931" h="717931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052" y="0"/>
                  </a:lnTo>
                  <a:cubicBezTo>
                    <a:pt x="696468" y="0"/>
                    <a:pt x="717931" y="21463"/>
                    <a:pt x="717931" y="47879"/>
                  </a:cubicBezTo>
                  <a:lnTo>
                    <a:pt x="717931" y="670052"/>
                  </a:lnTo>
                  <a:cubicBezTo>
                    <a:pt x="717931" y="696468"/>
                    <a:pt x="696468" y="717931"/>
                    <a:pt x="670052" y="717931"/>
                  </a:cubicBezTo>
                  <a:lnTo>
                    <a:pt x="47879" y="717931"/>
                  </a:lnTo>
                  <a:cubicBezTo>
                    <a:pt x="21463" y="717931"/>
                    <a:pt x="0" y="696468"/>
                    <a:pt x="0" y="67005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47465" y="5480448"/>
            <a:ext cx="337840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13260" y="5447408"/>
            <a:ext cx="2961382" cy="37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Proportionality Verified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13260" y="5866805"/>
            <a:ext cx="786958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k=0.784 measured vs k=π/4=0.7854 theoretical. Deviation: 0.16%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155" y="6834336"/>
            <a:ext cx="3857476" cy="37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Success Rates by Problem Size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155" y="7349430"/>
            <a:ext cx="437584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n≤4 qubits: &gt;90% success (excellent)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155" y="7815858"/>
            <a:ext cx="437584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n=5-6 qubits: 52-73% (moderate)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7155" y="8282285"/>
            <a:ext cx="4375845" cy="47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n≥7 qubits: &lt;32% (noise degradation)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16526" y="6834336"/>
            <a:ext cx="2816126" cy="37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Circuit Complexity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16526" y="7349430"/>
            <a:ext cx="4375845" cy="124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Gate count scales as O(n^2.5). Depth scales as O(n^1.5). Two-qubit gates dominate error contribution.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9443834" cy="160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BB84 Quantum Key Distribution: Why It’s Needed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3047696"/>
            <a:ext cx="10250927" cy="53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encryption relies on math problems (RSA factoring, ECC discrete logs).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computers can break these using Shor’s algorithm.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communication can be copied secretly, giving attackers the key.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We need a way to exchange keys where any interception is automatically noticeable.</a:t>
            </a: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14412" y="768400"/>
            <a:ext cx="9469636" cy="71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BB84: Quantum Cryptography Security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14412" y="1942505"/>
            <a:ext cx="5419725" cy="927347"/>
            <a:chOff x="0" y="0"/>
            <a:chExt cx="7226300" cy="123646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226300" cy="1236472"/>
            </a:xfrm>
            <a:custGeom>
              <a:avLst/>
              <a:gdLst/>
              <a:ahLst/>
              <a:cxnLst/>
              <a:rect l="l" t="t" r="r" b="b"/>
              <a:pathLst>
                <a:path w="7226300" h="1236472">
                  <a:moveTo>
                    <a:pt x="0" y="0"/>
                  </a:moveTo>
                  <a:lnTo>
                    <a:pt x="7226300" y="0"/>
                  </a:lnTo>
                  <a:lnTo>
                    <a:pt x="7226300" y="1236472"/>
                  </a:lnTo>
                  <a:lnTo>
                    <a:pt x="0" y="1236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" r="-18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46137" y="3082527"/>
            <a:ext cx="3021063" cy="326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Transmission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6137" y="3505349"/>
            <a:ext cx="4956274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Alice sends qubits in random bases (Z or X). Bob measures in random bases.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434138" y="1942505"/>
            <a:ext cx="5419725" cy="927347"/>
            <a:chOff x="0" y="0"/>
            <a:chExt cx="7226300" cy="123646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226300" cy="1236472"/>
            </a:xfrm>
            <a:custGeom>
              <a:avLst/>
              <a:gdLst/>
              <a:ahLst/>
              <a:cxnLst/>
              <a:rect l="l" t="t" r="r" b="b"/>
              <a:pathLst>
                <a:path w="7226300" h="1236472">
                  <a:moveTo>
                    <a:pt x="0" y="0"/>
                  </a:moveTo>
                  <a:lnTo>
                    <a:pt x="7226300" y="0"/>
                  </a:lnTo>
                  <a:lnTo>
                    <a:pt x="7226300" y="1236472"/>
                  </a:lnTo>
                  <a:lnTo>
                    <a:pt x="0" y="1236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" r="-18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665862" y="3082527"/>
            <a:ext cx="2727722" cy="3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Basis Sifting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65862" y="3505349"/>
            <a:ext cx="4956274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Discard mismatched bases. 50% efficiency yields shared key.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1853862" y="1942505"/>
            <a:ext cx="5419725" cy="927347"/>
            <a:chOff x="0" y="0"/>
            <a:chExt cx="7226300" cy="123646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7226300" cy="1236472"/>
            </a:xfrm>
            <a:custGeom>
              <a:avLst/>
              <a:gdLst/>
              <a:ahLst/>
              <a:cxnLst/>
              <a:rect l="l" t="t" r="r" b="b"/>
              <a:pathLst>
                <a:path w="7226300" h="1236472">
                  <a:moveTo>
                    <a:pt x="0" y="0"/>
                  </a:moveTo>
                  <a:lnTo>
                    <a:pt x="7226300" y="0"/>
                  </a:lnTo>
                  <a:lnTo>
                    <a:pt x="7226300" y="1236472"/>
                  </a:lnTo>
                  <a:lnTo>
                    <a:pt x="0" y="1236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5" r="-18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2085587" y="3082527"/>
            <a:ext cx="2965102" cy="3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Eavesdropper Detection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5587" y="3505349"/>
            <a:ext cx="4956274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QBER&gt;11% indicates attack. Eve's interception creates 25% error rate.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01615" y="6399014"/>
            <a:ext cx="2851845" cy="50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sz="45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0%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888629" y="4873675"/>
            <a:ext cx="3477965" cy="3477965"/>
            <a:chOff x="0" y="0"/>
            <a:chExt cx="4637287" cy="463728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4637278" cy="4637278"/>
            </a:xfrm>
            <a:custGeom>
              <a:avLst/>
              <a:gdLst/>
              <a:ahLst/>
              <a:cxnLst/>
              <a:rect l="l" t="t" r="r" b="b"/>
              <a:pathLst>
                <a:path w="4637278" h="4637278">
                  <a:moveTo>
                    <a:pt x="0" y="0"/>
                  </a:moveTo>
                  <a:lnTo>
                    <a:pt x="4637278" y="0"/>
                  </a:lnTo>
                  <a:lnTo>
                    <a:pt x="4637278" y="4637278"/>
                  </a:lnTo>
                  <a:lnTo>
                    <a:pt x="0" y="463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2263825" y="8622209"/>
            <a:ext cx="2727722" cy="3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Clean Channel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4412" y="9045029"/>
            <a:ext cx="5226546" cy="44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Perfect security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17929" y="6399014"/>
            <a:ext cx="2851845" cy="50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sz="45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25%</a:t>
            </a:r>
          </a:p>
        </p:txBody>
      </p: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7404944" y="4873675"/>
            <a:ext cx="3477965" cy="3477965"/>
            <a:chOff x="0" y="0"/>
            <a:chExt cx="4637287" cy="4637287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637278" cy="4637278"/>
            </a:xfrm>
            <a:custGeom>
              <a:avLst/>
              <a:gdLst/>
              <a:ahLst/>
              <a:cxnLst/>
              <a:rect l="l" t="t" r="r" b="b"/>
              <a:pathLst>
                <a:path w="4637278" h="4637278">
                  <a:moveTo>
                    <a:pt x="0" y="0"/>
                  </a:moveTo>
                  <a:lnTo>
                    <a:pt x="4637278" y="0"/>
                  </a:lnTo>
                  <a:lnTo>
                    <a:pt x="4637278" y="4637278"/>
                  </a:lnTo>
                  <a:lnTo>
                    <a:pt x="0" y="463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7780139" y="8622209"/>
            <a:ext cx="2727722" cy="3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Full Attack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30727" y="9045029"/>
            <a:ext cx="5226546" cy="44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Detected &amp; aborted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4244" y="6399014"/>
            <a:ext cx="2851845" cy="50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sz="45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11%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2921257" y="4873675"/>
            <a:ext cx="3477965" cy="3477965"/>
            <a:chOff x="0" y="0"/>
            <a:chExt cx="4637287" cy="4637287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4637278" cy="4637278"/>
            </a:xfrm>
            <a:custGeom>
              <a:avLst/>
              <a:gdLst/>
              <a:ahLst/>
              <a:cxnLst/>
              <a:rect l="l" t="t" r="r" b="b"/>
              <a:pathLst>
                <a:path w="4637278" h="4637278">
                  <a:moveTo>
                    <a:pt x="0" y="0"/>
                  </a:moveTo>
                  <a:lnTo>
                    <a:pt x="4637278" y="0"/>
                  </a:lnTo>
                  <a:lnTo>
                    <a:pt x="4637278" y="4637278"/>
                  </a:lnTo>
                  <a:lnTo>
                    <a:pt x="0" y="463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3296454" y="8622209"/>
            <a:ext cx="2727722" cy="3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Security Threshold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47041" y="9045029"/>
            <a:ext cx="5226546" cy="44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Critical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9443834" cy="160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Walks: Why They’re Needed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2888179"/>
            <a:ext cx="10250927" cy="657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Many problems depend on exploring or searching graphs:</a:t>
            </a:r>
          </a:p>
          <a:p>
            <a:pPr marL="1326937" lvl="2" indent="-442312" algn="l">
              <a:lnSpc>
                <a:spcPts val="4947"/>
              </a:lnSpc>
              <a:buFont typeface="Arial"/>
              <a:buChar char="⚬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Networks</a:t>
            </a:r>
          </a:p>
          <a:p>
            <a:pPr marL="1326937" lvl="2" indent="-442312" algn="l">
              <a:lnSpc>
                <a:spcPts val="4947"/>
              </a:lnSpc>
              <a:buFont typeface="Arial"/>
              <a:buChar char="⚬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Maps</a:t>
            </a:r>
          </a:p>
          <a:p>
            <a:pPr marL="1326937" lvl="2" indent="-442312" algn="l">
              <a:lnSpc>
                <a:spcPts val="4947"/>
              </a:lnSpc>
              <a:buFont typeface="Arial"/>
              <a:buChar char="⚬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Social graphs</a:t>
            </a:r>
          </a:p>
          <a:p>
            <a:pPr marL="1326937" lvl="2" indent="-442312" algn="l">
              <a:lnSpc>
                <a:spcPts val="4947"/>
              </a:lnSpc>
              <a:buFont typeface="Arial"/>
              <a:buChar char="⚬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Optimization landscapes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random walks spread slowly, taking many steps to reach distant nodes.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Bottlenecks appear in routing, transport modelling, and large graph searches.</a:t>
            </a: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429667" y="735331"/>
            <a:ext cx="10695533" cy="80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9"/>
              </a:lnSpc>
            </a:pPr>
            <a:r>
              <a:rPr lang="en-US" sz="5024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Walks: Ballistic vs Diffusive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1548" y="2545656"/>
            <a:ext cx="4836021" cy="55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346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Fundamental Difference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1548" y="3546527"/>
            <a:ext cx="4888260" cy="104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2649" b="1">
                <a:solidFill>
                  <a:srgbClr val="E7BF6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Quantum walks:</a:t>
            </a:r>
            <a:r>
              <a:rPr lang="en-US" sz="26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Spread ∝ t (ballistic). Variance grows as t².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8897" y="3546527"/>
            <a:ext cx="4888260" cy="104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2649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Classical walks:</a:t>
            </a:r>
            <a:r>
              <a:rPr lang="en-US" sz="26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Spread ∝ √t (diffusive). Variance grows as 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6993" y="5806884"/>
            <a:ext cx="4073723" cy="55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346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Practical Advantages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6993" y="6759460"/>
            <a:ext cx="5050575" cy="1394464"/>
            <a:chOff x="0" y="0"/>
            <a:chExt cx="6931223" cy="19137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31152" cy="1913684"/>
            </a:xfrm>
            <a:custGeom>
              <a:avLst/>
              <a:gdLst/>
              <a:ahLst/>
              <a:cxnLst/>
              <a:rect l="l" t="t" r="r" b="b"/>
              <a:pathLst>
                <a:path w="6931152" h="1913684">
                  <a:moveTo>
                    <a:pt x="0" y="22646"/>
                  </a:moveTo>
                  <a:cubicBezTo>
                    <a:pt x="0" y="10145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10145"/>
                    <a:pt x="6931152" y="22646"/>
                  </a:cubicBezTo>
                  <a:lnTo>
                    <a:pt x="6931152" y="1891037"/>
                  </a:lnTo>
                  <a:cubicBezTo>
                    <a:pt x="6931152" y="1903539"/>
                    <a:pt x="6904355" y="1913684"/>
                    <a:pt x="6871335" y="1913684"/>
                  </a:cubicBezTo>
                  <a:lnTo>
                    <a:pt x="59817" y="1913684"/>
                  </a:lnTo>
                  <a:cubicBezTo>
                    <a:pt x="26797" y="1913684"/>
                    <a:pt x="0" y="1903539"/>
                    <a:pt x="0" y="1891037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46993" y="6927531"/>
            <a:ext cx="4888260" cy="104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653" lvl="1" indent="-199826" algn="l">
              <a:lnSpc>
                <a:spcPts val="4258"/>
              </a:lnSpc>
              <a:buFont typeface="Arial"/>
              <a:buChar char="•"/>
            </a:pPr>
            <a:r>
              <a:rPr lang="en-US" sz="26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3× faster mixing time on line graphs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02741" y="6759460"/>
            <a:ext cx="5050575" cy="1394464"/>
            <a:chOff x="0" y="0"/>
            <a:chExt cx="6931223" cy="19137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31152" cy="1913684"/>
            </a:xfrm>
            <a:custGeom>
              <a:avLst/>
              <a:gdLst/>
              <a:ahLst/>
              <a:cxnLst/>
              <a:rect l="l" t="t" r="r" b="b"/>
              <a:pathLst>
                <a:path w="6931152" h="1913684">
                  <a:moveTo>
                    <a:pt x="0" y="22646"/>
                  </a:moveTo>
                  <a:cubicBezTo>
                    <a:pt x="0" y="10145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10145"/>
                    <a:pt x="6931152" y="22646"/>
                  </a:cubicBezTo>
                  <a:lnTo>
                    <a:pt x="6931152" y="1891037"/>
                  </a:lnTo>
                  <a:cubicBezTo>
                    <a:pt x="6931152" y="1903539"/>
                    <a:pt x="6904355" y="1913684"/>
                    <a:pt x="6871335" y="1913684"/>
                  </a:cubicBezTo>
                  <a:lnTo>
                    <a:pt x="59817" y="1913684"/>
                  </a:lnTo>
                  <a:cubicBezTo>
                    <a:pt x="26797" y="1913684"/>
                    <a:pt x="0" y="1903539"/>
                    <a:pt x="0" y="1891037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265056" y="6927531"/>
            <a:ext cx="4888260" cy="104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653" lvl="1" indent="-199826" algn="l">
              <a:lnSpc>
                <a:spcPts val="4258"/>
              </a:lnSpc>
              <a:buFont typeface="Arial"/>
              <a:buChar char="•"/>
            </a:pPr>
            <a:r>
              <a:rPr lang="en-US" sz="26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5× higher peak hitting probability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46993" y="8328524"/>
            <a:ext cx="5050575" cy="1394464"/>
            <a:chOff x="0" y="0"/>
            <a:chExt cx="6931223" cy="19137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31152" cy="1913684"/>
            </a:xfrm>
            <a:custGeom>
              <a:avLst/>
              <a:gdLst/>
              <a:ahLst/>
              <a:cxnLst/>
              <a:rect l="l" t="t" r="r" b="b"/>
              <a:pathLst>
                <a:path w="6931152" h="1913684">
                  <a:moveTo>
                    <a:pt x="0" y="22646"/>
                  </a:moveTo>
                  <a:cubicBezTo>
                    <a:pt x="0" y="10145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10145"/>
                    <a:pt x="6931152" y="22646"/>
                  </a:cubicBezTo>
                  <a:lnTo>
                    <a:pt x="6931152" y="1891037"/>
                  </a:lnTo>
                  <a:cubicBezTo>
                    <a:pt x="6931152" y="1903539"/>
                    <a:pt x="6904355" y="1913684"/>
                    <a:pt x="6871335" y="1913684"/>
                  </a:cubicBezTo>
                  <a:lnTo>
                    <a:pt x="59817" y="1913684"/>
                  </a:lnTo>
                  <a:cubicBezTo>
                    <a:pt x="26797" y="1913684"/>
                    <a:pt x="0" y="1903539"/>
                    <a:pt x="0" y="1891037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28151" y="8446568"/>
            <a:ext cx="4888260" cy="104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653" lvl="1" indent="-199826" algn="l">
              <a:lnSpc>
                <a:spcPts val="4258"/>
              </a:lnSpc>
              <a:buFont typeface="Arial"/>
              <a:buChar char="•"/>
            </a:pPr>
            <a:r>
              <a:rPr lang="en-US" sz="26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Earlier arrival at target vertices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47618" y="3746552"/>
            <a:ext cx="3443280" cy="56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1"/>
              </a:lnSpc>
            </a:pPr>
            <a:r>
              <a:rPr lang="en-US" sz="51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03715" y="4543069"/>
            <a:ext cx="2331086" cy="31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2"/>
              </a:lnSpc>
            </a:pPr>
            <a:r>
              <a:rPr lang="en-US" sz="182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DTQW Peak Step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47618" y="4994312"/>
            <a:ext cx="3443280" cy="37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54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Reaches target early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17280" y="6738216"/>
            <a:ext cx="703957" cy="69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6"/>
              </a:lnSpc>
            </a:pPr>
            <a:r>
              <a:rPr lang="en-US" sz="515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48707" y="7541266"/>
            <a:ext cx="1486693" cy="291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836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Peak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38656" y="7979501"/>
            <a:ext cx="3661204" cy="291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154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Slower arrival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677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11633731" cy="160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Random Number Generator: Why It’s Needed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3330223"/>
            <a:ext cx="10250927" cy="471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RNGs are pseudo-random — generated by predictable mathematical formulas.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Predictable randomness weakens cryptography, authentication, and simulations.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Security systems need true randomness, not approximations.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Hardware RNGs can still be biased or flawed.</a:t>
            </a: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08012" y="479076"/>
            <a:ext cx="11397109" cy="84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Random Number Generation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8012" y="2144166"/>
            <a:ext cx="5241577" cy="3959275"/>
            <a:chOff x="0" y="0"/>
            <a:chExt cx="6988770" cy="52790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8810" cy="5279009"/>
            </a:xfrm>
            <a:custGeom>
              <a:avLst/>
              <a:gdLst/>
              <a:ahLst/>
              <a:cxnLst/>
              <a:rect l="l" t="t" r="r" b="b"/>
              <a:pathLst>
                <a:path w="6988810" h="5279009">
                  <a:moveTo>
                    <a:pt x="0" y="54737"/>
                  </a:moveTo>
                  <a:cubicBezTo>
                    <a:pt x="0" y="24511"/>
                    <a:pt x="24511" y="0"/>
                    <a:pt x="54737" y="0"/>
                  </a:cubicBezTo>
                  <a:lnTo>
                    <a:pt x="6934073" y="0"/>
                  </a:lnTo>
                  <a:cubicBezTo>
                    <a:pt x="6964299" y="0"/>
                    <a:pt x="6988810" y="24511"/>
                    <a:pt x="6988810" y="54737"/>
                  </a:cubicBezTo>
                  <a:lnTo>
                    <a:pt x="6988810" y="5224272"/>
                  </a:lnTo>
                  <a:cubicBezTo>
                    <a:pt x="6988810" y="5254498"/>
                    <a:pt x="6964299" y="5279009"/>
                    <a:pt x="6934073" y="5279009"/>
                  </a:cubicBezTo>
                  <a:lnTo>
                    <a:pt x="54737" y="5279009"/>
                  </a:lnTo>
                  <a:cubicBezTo>
                    <a:pt x="24511" y="5279009"/>
                    <a:pt x="0" y="5254498"/>
                    <a:pt x="0" y="522427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81559" y="2417712"/>
            <a:ext cx="820788" cy="820788"/>
            <a:chOff x="0" y="0"/>
            <a:chExt cx="1094383" cy="1094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4359" cy="1094359"/>
            </a:xfrm>
            <a:custGeom>
              <a:avLst/>
              <a:gdLst/>
              <a:ahLst/>
              <a:cxnLst/>
              <a:rect l="l" t="t" r="r" b="b"/>
              <a:pathLst>
                <a:path w="1094359" h="1094359">
                  <a:moveTo>
                    <a:pt x="0" y="547243"/>
                  </a:moveTo>
                  <a:cubicBezTo>
                    <a:pt x="0" y="244983"/>
                    <a:pt x="244983" y="0"/>
                    <a:pt x="547243" y="0"/>
                  </a:cubicBezTo>
                  <a:cubicBezTo>
                    <a:pt x="849503" y="0"/>
                    <a:pt x="1094359" y="244983"/>
                    <a:pt x="1094359" y="547243"/>
                  </a:cubicBezTo>
                  <a:cubicBezTo>
                    <a:pt x="1094359" y="849503"/>
                    <a:pt x="849376" y="1094359"/>
                    <a:pt x="547243" y="1094359"/>
                  </a:cubicBezTo>
                  <a:cubicBezTo>
                    <a:pt x="245110" y="1094359"/>
                    <a:pt x="0" y="849376"/>
                    <a:pt x="0" y="547243"/>
                  </a:cubicBezTo>
                  <a:close/>
                </a:path>
              </a:pathLst>
            </a:custGeom>
            <a:solidFill>
              <a:srgbClr val="EF9C8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507182" y="2643336"/>
            <a:ext cx="369391" cy="369391"/>
          </a:xfrm>
          <a:custGeom>
            <a:avLst/>
            <a:gdLst/>
            <a:ahLst/>
            <a:cxnLst/>
            <a:rect l="l" t="t" r="r" b="b"/>
            <a:pathLst>
              <a:path w="369391" h="369391">
                <a:moveTo>
                  <a:pt x="0" y="0"/>
                </a:moveTo>
                <a:lnTo>
                  <a:pt x="369392" y="0"/>
                </a:lnTo>
                <a:lnTo>
                  <a:pt x="369392" y="369391"/>
                </a:lnTo>
                <a:lnTo>
                  <a:pt x="0" y="369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82" r="-128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81559" y="3492996"/>
            <a:ext cx="3219004" cy="4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PRNGs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1559" y="3983236"/>
            <a:ext cx="4694485" cy="140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Deterministic algorithms. PCG: 303 Mbit/s, but predictable given seed. Perfect for simulations.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3136" y="2144166"/>
            <a:ext cx="5241577" cy="3959275"/>
            <a:chOff x="0" y="0"/>
            <a:chExt cx="6988770" cy="52790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8810" cy="5279009"/>
            </a:xfrm>
            <a:custGeom>
              <a:avLst/>
              <a:gdLst/>
              <a:ahLst/>
              <a:cxnLst/>
              <a:rect l="l" t="t" r="r" b="b"/>
              <a:pathLst>
                <a:path w="6988810" h="5279009">
                  <a:moveTo>
                    <a:pt x="0" y="54737"/>
                  </a:moveTo>
                  <a:cubicBezTo>
                    <a:pt x="0" y="24511"/>
                    <a:pt x="24511" y="0"/>
                    <a:pt x="54737" y="0"/>
                  </a:cubicBezTo>
                  <a:lnTo>
                    <a:pt x="6934073" y="0"/>
                  </a:lnTo>
                  <a:cubicBezTo>
                    <a:pt x="6964299" y="0"/>
                    <a:pt x="6988810" y="24511"/>
                    <a:pt x="6988810" y="54737"/>
                  </a:cubicBezTo>
                  <a:lnTo>
                    <a:pt x="6988810" y="5224272"/>
                  </a:lnTo>
                  <a:cubicBezTo>
                    <a:pt x="6988810" y="5254498"/>
                    <a:pt x="6964299" y="5279009"/>
                    <a:pt x="6934073" y="5279009"/>
                  </a:cubicBezTo>
                  <a:lnTo>
                    <a:pt x="54737" y="5279009"/>
                  </a:lnTo>
                  <a:cubicBezTo>
                    <a:pt x="24511" y="5279009"/>
                    <a:pt x="0" y="5254498"/>
                    <a:pt x="0" y="522427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96682" y="2417712"/>
            <a:ext cx="820787" cy="820788"/>
            <a:chOff x="0" y="0"/>
            <a:chExt cx="1094383" cy="10943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4359" cy="1094359"/>
            </a:xfrm>
            <a:custGeom>
              <a:avLst/>
              <a:gdLst/>
              <a:ahLst/>
              <a:cxnLst/>
              <a:rect l="l" t="t" r="r" b="b"/>
              <a:pathLst>
                <a:path w="1094359" h="1094359">
                  <a:moveTo>
                    <a:pt x="0" y="547243"/>
                  </a:moveTo>
                  <a:cubicBezTo>
                    <a:pt x="0" y="244983"/>
                    <a:pt x="244983" y="0"/>
                    <a:pt x="547243" y="0"/>
                  </a:cubicBezTo>
                  <a:cubicBezTo>
                    <a:pt x="849503" y="0"/>
                    <a:pt x="1094359" y="244983"/>
                    <a:pt x="1094359" y="547243"/>
                  </a:cubicBezTo>
                  <a:cubicBezTo>
                    <a:pt x="1094359" y="849503"/>
                    <a:pt x="849376" y="1094359"/>
                    <a:pt x="547243" y="1094359"/>
                  </a:cubicBezTo>
                  <a:cubicBezTo>
                    <a:pt x="245110" y="1094359"/>
                    <a:pt x="0" y="849376"/>
                    <a:pt x="0" y="547243"/>
                  </a:cubicBezTo>
                  <a:close/>
                </a:path>
              </a:pathLst>
            </a:custGeom>
            <a:solidFill>
              <a:srgbClr val="EF9C8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Freeform 18" descr="preencoded.png"/>
          <p:cNvSpPr/>
          <p:nvPr/>
        </p:nvSpPr>
        <p:spPr>
          <a:xfrm>
            <a:off x="7022306" y="2643336"/>
            <a:ext cx="369391" cy="369391"/>
          </a:xfrm>
          <a:custGeom>
            <a:avLst/>
            <a:gdLst/>
            <a:ahLst/>
            <a:cxnLst/>
            <a:rect l="l" t="t" r="r" b="b"/>
            <a:pathLst>
              <a:path w="369391" h="369391">
                <a:moveTo>
                  <a:pt x="0" y="0"/>
                </a:moveTo>
                <a:lnTo>
                  <a:pt x="369391" y="0"/>
                </a:lnTo>
                <a:lnTo>
                  <a:pt x="369391" y="369391"/>
                </a:lnTo>
                <a:lnTo>
                  <a:pt x="0" y="36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8205" b="-2820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96682" y="3492996"/>
            <a:ext cx="3219004" cy="4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TRNGs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96682" y="3983236"/>
            <a:ext cx="4694485" cy="184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Born rule measurement. Information-theoretically unpredictable. Essential for cryptographic keys.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8260" y="2144166"/>
            <a:ext cx="5241577" cy="3959275"/>
            <a:chOff x="0" y="0"/>
            <a:chExt cx="6988770" cy="52790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88810" cy="5279009"/>
            </a:xfrm>
            <a:custGeom>
              <a:avLst/>
              <a:gdLst/>
              <a:ahLst/>
              <a:cxnLst/>
              <a:rect l="l" t="t" r="r" b="b"/>
              <a:pathLst>
                <a:path w="6988810" h="5279009">
                  <a:moveTo>
                    <a:pt x="0" y="54737"/>
                  </a:moveTo>
                  <a:cubicBezTo>
                    <a:pt x="0" y="24511"/>
                    <a:pt x="24511" y="0"/>
                    <a:pt x="54737" y="0"/>
                  </a:cubicBezTo>
                  <a:lnTo>
                    <a:pt x="6934073" y="0"/>
                  </a:lnTo>
                  <a:cubicBezTo>
                    <a:pt x="6964299" y="0"/>
                    <a:pt x="6988810" y="24511"/>
                    <a:pt x="6988810" y="54737"/>
                  </a:cubicBezTo>
                  <a:lnTo>
                    <a:pt x="6988810" y="5224272"/>
                  </a:lnTo>
                  <a:cubicBezTo>
                    <a:pt x="6988810" y="5254498"/>
                    <a:pt x="6964299" y="5279009"/>
                    <a:pt x="6934073" y="5279009"/>
                  </a:cubicBezTo>
                  <a:lnTo>
                    <a:pt x="54737" y="5279009"/>
                  </a:lnTo>
                  <a:cubicBezTo>
                    <a:pt x="24511" y="5279009"/>
                    <a:pt x="0" y="5254498"/>
                    <a:pt x="0" y="5224272"/>
                  </a:cubicBezTo>
                  <a:close/>
                </a:path>
              </a:pathLst>
            </a:custGeom>
            <a:solidFill>
              <a:srgbClr val="3152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2311806" y="2417712"/>
            <a:ext cx="820788" cy="820788"/>
            <a:chOff x="0" y="0"/>
            <a:chExt cx="1094383" cy="10943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4359" cy="1094359"/>
            </a:xfrm>
            <a:custGeom>
              <a:avLst/>
              <a:gdLst/>
              <a:ahLst/>
              <a:cxnLst/>
              <a:rect l="l" t="t" r="r" b="b"/>
              <a:pathLst>
                <a:path w="1094359" h="1094359">
                  <a:moveTo>
                    <a:pt x="0" y="547243"/>
                  </a:moveTo>
                  <a:cubicBezTo>
                    <a:pt x="0" y="244983"/>
                    <a:pt x="244983" y="0"/>
                    <a:pt x="547243" y="0"/>
                  </a:cubicBezTo>
                  <a:cubicBezTo>
                    <a:pt x="849503" y="0"/>
                    <a:pt x="1094359" y="244983"/>
                    <a:pt x="1094359" y="547243"/>
                  </a:cubicBezTo>
                  <a:cubicBezTo>
                    <a:pt x="1094359" y="849503"/>
                    <a:pt x="849376" y="1094359"/>
                    <a:pt x="547243" y="1094359"/>
                  </a:cubicBezTo>
                  <a:cubicBezTo>
                    <a:pt x="245110" y="1094359"/>
                    <a:pt x="0" y="849376"/>
                    <a:pt x="0" y="547243"/>
                  </a:cubicBezTo>
                  <a:close/>
                </a:path>
              </a:pathLst>
            </a:custGeom>
            <a:solidFill>
              <a:srgbClr val="EF9C8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2537430" y="2643336"/>
            <a:ext cx="369391" cy="369391"/>
          </a:xfrm>
          <a:custGeom>
            <a:avLst/>
            <a:gdLst/>
            <a:ahLst/>
            <a:cxnLst/>
            <a:rect l="l" t="t" r="r" b="b"/>
            <a:pathLst>
              <a:path w="369391" h="369391">
                <a:moveTo>
                  <a:pt x="0" y="0"/>
                </a:moveTo>
                <a:lnTo>
                  <a:pt x="369391" y="0"/>
                </a:lnTo>
                <a:lnTo>
                  <a:pt x="369391" y="369391"/>
                </a:lnTo>
                <a:lnTo>
                  <a:pt x="0" y="369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1538" b="-11538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311806" y="3492996"/>
            <a:ext cx="3219004" cy="4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Hybrid Architecture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11806" y="3983236"/>
            <a:ext cx="4694485" cy="140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Fault-tolerant design. Quantum when available, PRNG fallback. 99.9% availability guaranteed.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8012" y="6665714"/>
            <a:ext cx="3744814" cy="4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Performance Comparison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8012" y="7265342"/>
            <a:ext cx="7802315" cy="53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PCG: 0.33ms (fastest)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8012" y="7798891"/>
            <a:ext cx="7802315" cy="53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Xoshiro256**: 1.06ms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8012" y="8332440"/>
            <a:ext cx="7802315" cy="53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Mersenne Twister: 2.93ms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8012" y="8865989"/>
            <a:ext cx="7802315" cy="53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Hybrid Quantum: 756ms (network latency)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87197" y="6665714"/>
            <a:ext cx="3219004" cy="42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Statistical Quality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87197" y="7265342"/>
            <a:ext cx="7802315" cy="970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All algorithms pass NIST tests with p&gt;0.05. Shannon entropy: 0.9999+ (ideal=1.0). Indistinguishable for finite samples.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2146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7101" y="881215"/>
            <a:ext cx="11633731" cy="801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07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Final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101" y="2360982"/>
            <a:ext cx="10250927" cy="657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7"/>
              </a:lnSpc>
            </a:pPr>
            <a:r>
              <a:rPr lang="en-US" sz="3073" b="1" spc="132">
                <a:solidFill>
                  <a:srgbClr val="E7BF6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Quantum computing is needed because: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 methods hit limits in speed, security, and scalability.</a:t>
            </a:r>
          </a:p>
          <a:p>
            <a:pPr algn="l">
              <a:lnSpc>
                <a:spcPts val="4947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algn="l">
              <a:lnSpc>
                <a:spcPts val="4947"/>
              </a:lnSpc>
            </a:pPr>
            <a:r>
              <a:rPr lang="en-US" sz="3073" b="1" spc="132">
                <a:solidFill>
                  <a:srgbClr val="E7BF6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Quantum algorithms are better because: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They offer exponential/quadratic speedups,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Provide unbreakable security,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Enable faster exploration of data,</a:t>
            </a:r>
          </a:p>
          <a:p>
            <a:pPr marL="663468" lvl="1" indent="-331734" algn="l">
              <a:lnSpc>
                <a:spcPts val="4947"/>
              </a:lnSpc>
              <a:buFont typeface="Arial"/>
              <a:buChar char="•"/>
            </a:pPr>
            <a:r>
              <a:rPr lang="en-US" sz="3073" spc="13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And generate true randomness for cryptography.</a:t>
            </a:r>
          </a:p>
          <a:p>
            <a:pPr algn="l">
              <a:lnSpc>
                <a:spcPts val="4947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algn="l">
              <a:lnSpc>
                <a:spcPts val="1536"/>
              </a:lnSpc>
            </a:pPr>
            <a:endParaRPr lang="en-US" sz="3073" spc="132">
              <a:solidFill>
                <a:srgbClr val="FFD9BE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53483" y="9049534"/>
            <a:ext cx="7976741" cy="3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1875" dirty="0">
                <a:solidFill>
                  <a:srgbClr val="E7BF6A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computing isn’t just faster — it enables entirely new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944</Words>
  <Application>Microsoft Office PowerPoint</Application>
  <PresentationFormat>Custom</PresentationFormat>
  <Paragraphs>160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Quattrocento</vt:lpstr>
      <vt:lpstr>Quattrocento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Quantum-Algorithm-Implementations.pptx</dc:title>
  <cp:lastModifiedBy>bhavya parihar</cp:lastModifiedBy>
  <cp:revision>2</cp:revision>
  <dcterms:created xsi:type="dcterms:W3CDTF">2006-08-16T00:00:00Z</dcterms:created>
  <dcterms:modified xsi:type="dcterms:W3CDTF">2025-12-03T12:20:14Z</dcterms:modified>
  <dc:identifier>DAG6c8e4Dg8</dc:identifier>
</cp:coreProperties>
</file>